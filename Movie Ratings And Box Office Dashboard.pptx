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61" r:id="rId5"/>
    <p:sldId id="262" r:id="rId6"/>
    <p:sldId id="259" r:id="rId7"/>
    <p:sldId id="260" r:id="rId8"/>
    <p:sldId id="263" r:id="rId9"/>
    <p:sldId id="264" r:id="rId10"/>
    <p:sldId id="265" r:id="rId11"/>
    <p:sldId id="266" r:id="rId12"/>
    <p:sldId id="267" r:id="rId13"/>
    <p:sldId id="268" r:id="rId14"/>
    <p:sldId id="269" r:id="rId15"/>
    <p:sldId id="270" r:id="rId16"/>
    <p:sldId id="271" r:id="rId17"/>
    <p:sldId id="276" r:id="rId18"/>
    <p:sldId id="272"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67" d="100"/>
          <a:sy n="67" d="100"/>
        </p:scale>
        <p:origin x="6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GB"/>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C970092-99C3-461A-A3F8-48B02D6E5A4F}" type="slidenum">
              <a:rPr lang="en-GB" smtClean="0"/>
              <a:t>‹#›</a:t>
            </a:fld>
            <a:endParaRPr lang="en-GB"/>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95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946508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970092-99C3-461A-A3F8-48B02D6E5A4F}" type="slidenum">
              <a:rPr lang="en-GB" smtClean="0"/>
              <a:t>‹#›</a:t>
            </a:fld>
            <a:endParaRPr lang="en-GB"/>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6704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316A15-28D1-477E-8B0D-2741E2ABADE4}" type="datetimeFigureOut">
              <a:rPr lang="en-GB" smtClean="0"/>
              <a:t>05/10/2026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419629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316A15-28D1-477E-8B0D-2741E2ABADE4}" type="datetimeFigureOut">
              <a:rPr lang="en-GB" smtClean="0"/>
              <a:t>05/10/2026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290357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316A15-28D1-477E-8B0D-2741E2ABADE4}" type="datetimeFigureOut">
              <a:rPr lang="en-GB" smtClean="0"/>
              <a:t>05/10/2026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1599381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16A15-28D1-477E-8B0D-2741E2ABADE4}" type="datetimeFigureOut">
              <a:rPr lang="en-GB" smtClean="0"/>
              <a:t>05/10/2026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1166142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316A15-28D1-477E-8B0D-2741E2ABADE4}" type="datetimeFigureOut">
              <a:rPr lang="en-GB" smtClean="0"/>
              <a:t>05/10/2026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495772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316A15-28D1-477E-8B0D-2741E2ABADE4}" type="datetimeFigureOut">
              <a:rPr lang="en-GB" smtClean="0"/>
              <a:t>05/10/2026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1838088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2864307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535462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28316A15-28D1-477E-8B0D-2741E2ABADE4}" type="datetimeFigureOut">
              <a:rPr lang="en-GB" smtClean="0"/>
              <a:t>05/10/2026</a:t>
            </a:fld>
            <a:endParaRPr lang="en-GB"/>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GB"/>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BC970092-99C3-461A-A3F8-48B02D6E5A4F}" type="slidenum">
              <a:rPr lang="en-GB" smtClean="0"/>
              <a:t>‹#›</a:t>
            </a:fld>
            <a:endParaRPr lang="en-GB"/>
          </a:p>
        </p:txBody>
      </p:sp>
    </p:spTree>
    <p:extLst>
      <p:ext uri="{BB962C8B-B14F-4D97-AF65-F5344CB8AC3E}">
        <p14:creationId xmlns:p14="http://schemas.microsoft.com/office/powerpoint/2010/main" val="280132364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8FCC2-83F3-6FA9-77D3-69BE1218E5B6}"/>
              </a:ext>
            </a:extLst>
          </p:cNvPr>
          <p:cNvSpPr>
            <a:spLocks noGrp="1"/>
          </p:cNvSpPr>
          <p:nvPr>
            <p:ph type="ctrTitle"/>
          </p:nvPr>
        </p:nvSpPr>
        <p:spPr/>
        <p:txBody>
          <a:bodyPr>
            <a:normAutofit/>
          </a:bodyPr>
          <a:lstStyle/>
          <a:p>
            <a:r>
              <a:rPr lang="en-GB" dirty="0"/>
              <a:t>Movie Ratings And Box Office Dashboard</a:t>
            </a:r>
          </a:p>
        </p:txBody>
      </p:sp>
      <p:sp>
        <p:nvSpPr>
          <p:cNvPr id="3" name="Subtitle 2">
            <a:extLst>
              <a:ext uri="{FF2B5EF4-FFF2-40B4-BE49-F238E27FC236}">
                <a16:creationId xmlns:a16="http://schemas.microsoft.com/office/drawing/2014/main" id="{AF063F21-D13E-1F5F-0F05-CDB9731CB9B7}"/>
              </a:ext>
            </a:extLst>
          </p:cNvPr>
          <p:cNvSpPr>
            <a:spLocks noGrp="1"/>
          </p:cNvSpPr>
          <p:nvPr>
            <p:ph type="subTitle" idx="1"/>
          </p:nvPr>
        </p:nvSpPr>
        <p:spPr>
          <a:xfrm>
            <a:off x="7802880" y="3602038"/>
            <a:ext cx="2865120" cy="1655762"/>
          </a:xfrm>
        </p:spPr>
        <p:txBody>
          <a:bodyPr/>
          <a:lstStyle/>
          <a:p>
            <a:endParaRPr lang="en-GB" dirty="0"/>
          </a:p>
          <a:p>
            <a:r>
              <a:rPr lang="en-GB" dirty="0"/>
              <a:t>Presented By </a:t>
            </a:r>
            <a:br>
              <a:rPr lang="en-GB" dirty="0"/>
            </a:br>
            <a:r>
              <a:rPr lang="en-GB" dirty="0"/>
              <a:t>Akshaya K P</a:t>
            </a:r>
          </a:p>
        </p:txBody>
      </p:sp>
    </p:spTree>
    <p:extLst>
      <p:ext uri="{BB962C8B-B14F-4D97-AF65-F5344CB8AC3E}">
        <p14:creationId xmlns:p14="http://schemas.microsoft.com/office/powerpoint/2010/main" val="3948383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4F76-9BC6-9A63-9289-4AD91B07148E}"/>
              </a:ext>
            </a:extLst>
          </p:cNvPr>
          <p:cNvSpPr>
            <a:spLocks noGrp="1"/>
          </p:cNvSpPr>
          <p:nvPr>
            <p:ph type="title"/>
          </p:nvPr>
        </p:nvSpPr>
        <p:spPr/>
        <p:txBody>
          <a:bodyPr/>
          <a:lstStyle/>
          <a:p>
            <a:r>
              <a:rPr lang="en-GB" dirty="0"/>
              <a:t>Introduction</a:t>
            </a:r>
          </a:p>
        </p:txBody>
      </p:sp>
      <p:sp>
        <p:nvSpPr>
          <p:cNvPr id="3" name="Content Placeholder 2">
            <a:extLst>
              <a:ext uri="{FF2B5EF4-FFF2-40B4-BE49-F238E27FC236}">
                <a16:creationId xmlns:a16="http://schemas.microsoft.com/office/drawing/2014/main" id="{89CD3D60-1BF5-6E45-C27B-CF31565688BB}"/>
              </a:ext>
            </a:extLst>
          </p:cNvPr>
          <p:cNvSpPr>
            <a:spLocks noGrp="1"/>
          </p:cNvSpPr>
          <p:nvPr>
            <p:ph idx="1"/>
          </p:nvPr>
        </p:nvSpPr>
        <p:spPr/>
        <p:txBody>
          <a:bodyPr/>
          <a:lstStyle/>
          <a:p>
            <a:r>
              <a:rPr lang="en-GB" dirty="0">
                <a:solidFill>
                  <a:schemeClr val="tx1"/>
                </a:solidFill>
              </a:rPr>
              <a:t>The Movie Rating and Box Office Dashboard is a data analytics project that analyses movie performance using IMDb ratings, Meta scores, audience votes, gross revenue, genres, certificates, directors, and released years of a movie. It provides interactive insights that can help users identify high-grossing movies, popular genres, highly rated movies, and audience preferences.</a:t>
            </a:r>
          </a:p>
          <a:p>
            <a:endParaRPr lang="en-GB" dirty="0">
              <a:solidFill>
                <a:schemeClr val="tx1"/>
              </a:solidFill>
            </a:endParaRPr>
          </a:p>
        </p:txBody>
      </p:sp>
    </p:spTree>
    <p:extLst>
      <p:ext uri="{BB962C8B-B14F-4D97-AF65-F5344CB8AC3E}">
        <p14:creationId xmlns:p14="http://schemas.microsoft.com/office/powerpoint/2010/main" val="1182888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09202-E985-DBC5-0B44-01ABEC85821E}"/>
              </a:ext>
            </a:extLst>
          </p:cNvPr>
          <p:cNvSpPr>
            <a:spLocks noGrp="1"/>
          </p:cNvSpPr>
          <p:nvPr>
            <p:ph type="title"/>
          </p:nvPr>
        </p:nvSpPr>
        <p:spPr/>
        <p:txBody>
          <a:bodyPr/>
          <a:lstStyle/>
          <a:p>
            <a:r>
              <a:rPr lang="en-GB" dirty="0"/>
              <a:t>Problem Statement</a:t>
            </a:r>
          </a:p>
        </p:txBody>
      </p:sp>
      <p:sp>
        <p:nvSpPr>
          <p:cNvPr id="3" name="Content Placeholder 2">
            <a:extLst>
              <a:ext uri="{FF2B5EF4-FFF2-40B4-BE49-F238E27FC236}">
                <a16:creationId xmlns:a16="http://schemas.microsoft.com/office/drawing/2014/main" id="{384F9516-84D9-9140-C2D5-C449CD0B1691}"/>
              </a:ext>
            </a:extLst>
          </p:cNvPr>
          <p:cNvSpPr>
            <a:spLocks noGrp="1"/>
          </p:cNvSpPr>
          <p:nvPr>
            <p:ph idx="1"/>
          </p:nvPr>
        </p:nvSpPr>
        <p:spPr>
          <a:xfrm>
            <a:off x="838200" y="1825625"/>
            <a:ext cx="10515600" cy="3091815"/>
          </a:xfrm>
        </p:spPr>
        <p:txBody>
          <a:bodyPr/>
          <a:lstStyle/>
          <a:p>
            <a:r>
              <a:rPr lang="en-GB" dirty="0"/>
              <a:t>The Movie Rating and Box Office Dashboard aims to </a:t>
            </a:r>
            <a:r>
              <a:rPr lang="en-GB" dirty="0" err="1"/>
              <a:t>analyze</a:t>
            </a:r>
            <a:r>
              <a:rPr lang="en-GB" dirty="0"/>
              <a:t> movie performance by examining Gross, IMDb Rating, Meta Score, audience votes, genre, director, certification, and release year. It helps identify top-performing movies, popular genres, successful directors, audience interest, and the relationship between ratings and box-office revenue.</a:t>
            </a:r>
          </a:p>
          <a:p>
            <a:endParaRPr lang="en-GB" dirty="0"/>
          </a:p>
        </p:txBody>
      </p:sp>
    </p:spTree>
    <p:extLst>
      <p:ext uri="{BB962C8B-B14F-4D97-AF65-F5344CB8AC3E}">
        <p14:creationId xmlns:p14="http://schemas.microsoft.com/office/powerpoint/2010/main" val="4285045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0273-60C8-9072-2807-23945F4A5F79}"/>
              </a:ext>
            </a:extLst>
          </p:cNvPr>
          <p:cNvSpPr>
            <a:spLocks noGrp="1"/>
          </p:cNvSpPr>
          <p:nvPr>
            <p:ph type="title"/>
          </p:nvPr>
        </p:nvSpPr>
        <p:spPr/>
        <p:txBody>
          <a:bodyPr/>
          <a:lstStyle/>
          <a:p>
            <a:r>
              <a:rPr lang="en-GB" dirty="0"/>
              <a:t>Column Description</a:t>
            </a:r>
          </a:p>
        </p:txBody>
      </p:sp>
      <p:sp>
        <p:nvSpPr>
          <p:cNvPr id="4" name="Rectangle 1">
            <a:extLst>
              <a:ext uri="{FF2B5EF4-FFF2-40B4-BE49-F238E27FC236}">
                <a16:creationId xmlns:a16="http://schemas.microsoft.com/office/drawing/2014/main" id="{CE297F55-921F-EA0C-CB64-B0A984E10EC8}"/>
              </a:ext>
            </a:extLst>
          </p:cNvPr>
          <p:cNvSpPr>
            <a:spLocks noGrp="1" noChangeArrowheads="1"/>
          </p:cNvSpPr>
          <p:nvPr>
            <p:ph idx="1"/>
          </p:nvPr>
        </p:nvSpPr>
        <p:spPr bwMode="auto">
          <a:xfrm>
            <a:off x="838200" y="2016135"/>
            <a:ext cx="869026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Series_Title</a:t>
            </a:r>
            <a:r>
              <a:rPr kumimoji="0" lang="en-US" altLang="en-US" sz="1800" b="0" i="0" u="none" strike="noStrike" cap="none" normalizeH="0" baseline="0" dirty="0">
                <a:ln>
                  <a:noFill/>
                </a:ln>
                <a:solidFill>
                  <a:schemeClr val="tx1"/>
                </a:solidFill>
                <a:effectLst/>
              </a:rPr>
              <a:t> – Name of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Released_Year</a:t>
            </a:r>
            <a:r>
              <a:rPr kumimoji="0" lang="en-US" altLang="en-US" sz="1800" b="0" i="0" u="none" strike="noStrike" cap="none" normalizeH="0" baseline="0" dirty="0">
                <a:ln>
                  <a:noFill/>
                </a:ln>
                <a:solidFill>
                  <a:schemeClr val="tx1"/>
                </a:solidFill>
                <a:effectLst/>
              </a:rPr>
              <a:t> – Year the movie was released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Certificate</a:t>
            </a:r>
            <a:r>
              <a:rPr kumimoji="0" lang="en-US" altLang="en-US" sz="1800" b="0" i="0" u="none" strike="noStrike" cap="none" normalizeH="0" baseline="0" dirty="0">
                <a:ln>
                  <a:noFill/>
                </a:ln>
                <a:solidFill>
                  <a:schemeClr val="tx1"/>
                </a:solidFill>
                <a:effectLst/>
              </a:rPr>
              <a:t> – Movie certification such as U, A, UA, R, PG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Runtime</a:t>
            </a:r>
            <a:r>
              <a:rPr kumimoji="0" lang="en-US" altLang="en-US" sz="1800" b="0" i="0" u="none" strike="noStrike" cap="none" normalizeH="0" baseline="0" dirty="0">
                <a:ln>
                  <a:noFill/>
                </a:ln>
                <a:solidFill>
                  <a:schemeClr val="tx1"/>
                </a:solidFill>
                <a:effectLst/>
              </a:rPr>
              <a:t> – Movie duration in minutes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Genre.1</a:t>
            </a:r>
            <a:r>
              <a:rPr kumimoji="0" lang="en-US" altLang="en-US" sz="1800" b="0" i="0" u="none" strike="noStrike" cap="none" normalizeH="0" baseline="0" dirty="0">
                <a:ln>
                  <a:noFill/>
                </a:ln>
                <a:solidFill>
                  <a:schemeClr val="tx1"/>
                </a:solidFill>
                <a:effectLst/>
              </a:rPr>
              <a:t> – Movie genre such as Action, Drama, Comedy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IMDB_Rating</a:t>
            </a:r>
            <a:r>
              <a:rPr kumimoji="0" lang="en-US" altLang="en-US" sz="1800" b="0" i="0" u="none" strike="noStrike" cap="none" normalizeH="0" baseline="0" dirty="0">
                <a:ln>
                  <a:noFill/>
                </a:ln>
                <a:solidFill>
                  <a:schemeClr val="tx1"/>
                </a:solidFill>
                <a:effectLst/>
              </a:rPr>
              <a:t> – IMDb user rating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Overview</a:t>
            </a:r>
            <a:r>
              <a:rPr kumimoji="0" lang="en-US" altLang="en-US" sz="1800" b="0" i="0" u="none" strike="noStrike" cap="none" normalizeH="0" baseline="0" dirty="0">
                <a:ln>
                  <a:noFill/>
                </a:ln>
                <a:solidFill>
                  <a:schemeClr val="tx1"/>
                </a:solidFill>
                <a:effectLst/>
              </a:rPr>
              <a:t> – Short description of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Meta_score</a:t>
            </a:r>
            <a:r>
              <a:rPr kumimoji="0" lang="en-US" altLang="en-US" sz="1800" b="0" i="0" u="none" strike="noStrike" cap="none" normalizeH="0" baseline="0" dirty="0">
                <a:ln>
                  <a:noFill/>
                </a:ln>
                <a:solidFill>
                  <a:schemeClr val="tx1"/>
                </a:solidFill>
                <a:effectLst/>
              </a:rPr>
              <a:t> – Critics’ score of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Director</a:t>
            </a:r>
            <a:r>
              <a:rPr kumimoji="0" lang="en-US" altLang="en-US" sz="1800" b="0" i="0" u="none" strike="noStrike" cap="none" normalizeH="0" baseline="0" dirty="0">
                <a:ln>
                  <a:noFill/>
                </a:ln>
                <a:solidFill>
                  <a:schemeClr val="tx1"/>
                </a:solidFill>
                <a:effectLst/>
              </a:rPr>
              <a:t> – Director of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Star1–Star4</a:t>
            </a:r>
            <a:r>
              <a:rPr kumimoji="0" lang="en-US" altLang="en-US" sz="1800" b="0" i="0" u="none" strike="noStrike" cap="none" normalizeH="0" baseline="0" dirty="0">
                <a:ln>
                  <a:noFill/>
                </a:ln>
                <a:solidFill>
                  <a:schemeClr val="tx1"/>
                </a:solidFill>
                <a:effectLst/>
              </a:rPr>
              <a:t> – Main actors in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No_of_Votes</a:t>
            </a:r>
            <a:r>
              <a:rPr kumimoji="0" lang="en-US" altLang="en-US" sz="1800" b="0" i="0" u="none" strike="noStrike" cap="none" normalizeH="0" baseline="0" dirty="0">
                <a:ln>
                  <a:noFill/>
                </a:ln>
                <a:solidFill>
                  <a:schemeClr val="tx1"/>
                </a:solidFill>
                <a:effectLst/>
              </a:rPr>
              <a:t> – Number of IMDb votes received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Gross</a:t>
            </a:r>
            <a:r>
              <a:rPr kumimoji="0" lang="en-US" altLang="en-US" sz="1800" b="0" i="0" u="none" strike="noStrike" cap="none" normalizeH="0" baseline="0" dirty="0">
                <a:ln>
                  <a:noFill/>
                </a:ln>
                <a:solidFill>
                  <a:schemeClr val="tx1"/>
                </a:solidFill>
                <a:effectLst/>
              </a:rPr>
              <a:t> – Box-office revenue earned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Gross Group</a:t>
            </a:r>
            <a:r>
              <a:rPr kumimoji="0" lang="en-US" altLang="en-US" sz="1800" b="0" i="0" u="none" strike="noStrike" cap="none" normalizeH="0" baseline="0" dirty="0">
                <a:ln>
                  <a:noFill/>
                </a:ln>
                <a:solidFill>
                  <a:schemeClr val="tx1"/>
                </a:solidFill>
                <a:effectLst/>
              </a:rPr>
              <a:t> – Revenue categories created for easy analysis, such as </a:t>
            </a:r>
            <a:r>
              <a:rPr kumimoji="0" lang="en-US" altLang="en-US" sz="1800" b="1" i="0" u="none" strike="noStrike" cap="none" normalizeH="0" baseline="0" dirty="0">
                <a:ln>
                  <a:noFill/>
                </a:ln>
                <a:solidFill>
                  <a:schemeClr val="tx1"/>
                </a:solidFill>
                <a:effectLst/>
              </a:rPr>
              <a:t>0–100M, 100–500M,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 500M–1B, and 1B–2B</a:t>
            </a:r>
            <a:r>
              <a:rPr kumimoji="0" lang="en-US" altLang="en-US" sz="18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3417312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2D80C-91E1-E50B-8274-531F0D48823D}"/>
              </a:ext>
            </a:extLst>
          </p:cNvPr>
          <p:cNvSpPr>
            <a:spLocks noGrp="1"/>
          </p:cNvSpPr>
          <p:nvPr>
            <p:ph type="title"/>
          </p:nvPr>
        </p:nvSpPr>
        <p:spPr/>
        <p:txBody>
          <a:bodyPr/>
          <a:lstStyle/>
          <a:p>
            <a:r>
              <a:rPr lang="en-GB" dirty="0"/>
              <a:t>Key Performance Indicator</a:t>
            </a:r>
          </a:p>
        </p:txBody>
      </p:sp>
      <p:sp>
        <p:nvSpPr>
          <p:cNvPr id="3" name="Content Placeholder 2">
            <a:extLst>
              <a:ext uri="{FF2B5EF4-FFF2-40B4-BE49-F238E27FC236}">
                <a16:creationId xmlns:a16="http://schemas.microsoft.com/office/drawing/2014/main" id="{424C0164-DA1A-8FE0-A8BB-68A8EF109A6B}"/>
              </a:ext>
            </a:extLst>
          </p:cNvPr>
          <p:cNvSpPr>
            <a:spLocks noGrp="1"/>
          </p:cNvSpPr>
          <p:nvPr>
            <p:ph idx="1"/>
          </p:nvPr>
        </p:nvSpPr>
        <p:spPr/>
        <p:txBody>
          <a:bodyPr/>
          <a:lstStyle/>
          <a:p>
            <a:r>
              <a:rPr lang="en-GB" dirty="0"/>
              <a:t>A Key Performance Indicator (KPI) is a measurable value used to quickly understand the performance for overall Datasets.</a:t>
            </a:r>
          </a:p>
          <a:p>
            <a:endParaRPr lang="en-GB" dirty="0"/>
          </a:p>
          <a:p>
            <a:pPr marL="0" lvl="0" indent="0" eaLnBrk="0" fontAlgn="base" hangingPunct="0">
              <a:lnSpc>
                <a:spcPct val="100000"/>
              </a:lnSpc>
              <a:spcBef>
                <a:spcPct val="0"/>
              </a:spcBef>
              <a:spcAft>
                <a:spcPct val="0"/>
              </a:spcAft>
              <a:buFontTx/>
              <a:buChar char="•"/>
            </a:pPr>
            <a:r>
              <a:rPr lang="en-US" altLang="en-US" b="1" dirty="0"/>
              <a:t>Total Movies</a:t>
            </a:r>
            <a:r>
              <a:rPr lang="en-US" altLang="en-US" dirty="0"/>
              <a:t> – Number of movies in the dataset</a:t>
            </a:r>
          </a:p>
          <a:p>
            <a:pPr marL="0" lvl="0" indent="0" eaLnBrk="0" fontAlgn="base" hangingPunct="0">
              <a:lnSpc>
                <a:spcPct val="100000"/>
              </a:lnSpc>
              <a:spcBef>
                <a:spcPct val="0"/>
              </a:spcBef>
              <a:spcAft>
                <a:spcPct val="0"/>
              </a:spcAft>
              <a:buFontTx/>
              <a:buChar char="•"/>
            </a:pPr>
            <a:r>
              <a:rPr lang="en-US" altLang="en-US" b="1" dirty="0"/>
              <a:t>Average IMDb Rating</a:t>
            </a:r>
            <a:r>
              <a:rPr lang="en-US" altLang="en-US" dirty="0"/>
              <a:t> – Average audience rating</a:t>
            </a:r>
          </a:p>
          <a:p>
            <a:pPr marL="0" lvl="0" indent="0" eaLnBrk="0" fontAlgn="base" hangingPunct="0">
              <a:lnSpc>
                <a:spcPct val="100000"/>
              </a:lnSpc>
              <a:spcBef>
                <a:spcPct val="0"/>
              </a:spcBef>
              <a:spcAft>
                <a:spcPct val="0"/>
              </a:spcAft>
              <a:buFontTx/>
              <a:buChar char="•"/>
            </a:pPr>
            <a:r>
              <a:rPr lang="en-US" altLang="en-US" b="1" dirty="0"/>
              <a:t>Average Meta Score</a:t>
            </a:r>
            <a:r>
              <a:rPr lang="en-US" altLang="en-US" dirty="0"/>
              <a:t> – Average critics’ score</a:t>
            </a:r>
          </a:p>
          <a:p>
            <a:pPr marL="0" lvl="0" indent="0" eaLnBrk="0" fontAlgn="base" hangingPunct="0">
              <a:lnSpc>
                <a:spcPct val="100000"/>
              </a:lnSpc>
              <a:spcBef>
                <a:spcPct val="0"/>
              </a:spcBef>
              <a:spcAft>
                <a:spcPct val="0"/>
              </a:spcAft>
              <a:buFontTx/>
              <a:buChar char="•"/>
            </a:pPr>
            <a:r>
              <a:rPr lang="en-US" altLang="en-US" b="1" dirty="0"/>
              <a:t>Total Gross</a:t>
            </a:r>
            <a:r>
              <a:rPr lang="en-US" altLang="en-US" dirty="0"/>
              <a:t> – Total box-office revenue</a:t>
            </a:r>
          </a:p>
          <a:p>
            <a:pPr marL="0" lvl="0" indent="0" eaLnBrk="0" fontAlgn="base" hangingPunct="0">
              <a:lnSpc>
                <a:spcPct val="100000"/>
              </a:lnSpc>
              <a:spcBef>
                <a:spcPct val="0"/>
              </a:spcBef>
              <a:spcAft>
                <a:spcPct val="0"/>
              </a:spcAft>
              <a:buFontTx/>
              <a:buChar char="•"/>
            </a:pPr>
            <a:r>
              <a:rPr lang="en-US" altLang="en-US" b="1" dirty="0"/>
              <a:t>Average Gross</a:t>
            </a:r>
            <a:r>
              <a:rPr lang="en-US" altLang="en-US" dirty="0"/>
              <a:t> – Average revenue per movie</a:t>
            </a:r>
          </a:p>
          <a:p>
            <a:pPr marL="0" lvl="0" indent="0" eaLnBrk="0" fontAlgn="base" hangingPunct="0">
              <a:lnSpc>
                <a:spcPct val="100000"/>
              </a:lnSpc>
              <a:spcBef>
                <a:spcPct val="0"/>
              </a:spcBef>
              <a:spcAft>
                <a:spcPct val="0"/>
              </a:spcAft>
              <a:buFontTx/>
              <a:buChar char="•"/>
            </a:pPr>
            <a:r>
              <a:rPr lang="en-US" altLang="en-US" b="1" dirty="0"/>
              <a:t>Total Votes</a:t>
            </a:r>
            <a:r>
              <a:rPr lang="en-US" altLang="en-US" dirty="0"/>
              <a:t> – Total audience votes </a:t>
            </a:r>
          </a:p>
          <a:p>
            <a:endParaRPr lang="en-GB" dirty="0"/>
          </a:p>
        </p:txBody>
      </p:sp>
      <p:sp>
        <p:nvSpPr>
          <p:cNvPr id="5" name="Rectangle 2">
            <a:extLst>
              <a:ext uri="{FF2B5EF4-FFF2-40B4-BE49-F238E27FC236}">
                <a16:creationId xmlns:a16="http://schemas.microsoft.com/office/drawing/2014/main" id="{D54F374A-B89E-0E68-AE37-8099E7D80AA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3940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55949-6A4D-1D16-4EE6-68D8DA4AF2F3}"/>
              </a:ext>
            </a:extLst>
          </p:cNvPr>
          <p:cNvSpPr>
            <a:spLocks noGrp="1"/>
          </p:cNvSpPr>
          <p:nvPr>
            <p:ph type="title"/>
          </p:nvPr>
        </p:nvSpPr>
        <p:spPr/>
        <p:txBody>
          <a:bodyPr/>
          <a:lstStyle/>
          <a:p>
            <a:r>
              <a:rPr lang="en-GB" dirty="0"/>
              <a:t>Data Preprocessing</a:t>
            </a:r>
          </a:p>
        </p:txBody>
      </p:sp>
      <p:sp>
        <p:nvSpPr>
          <p:cNvPr id="8" name="Rectangle 5">
            <a:extLst>
              <a:ext uri="{FF2B5EF4-FFF2-40B4-BE49-F238E27FC236}">
                <a16:creationId xmlns:a16="http://schemas.microsoft.com/office/drawing/2014/main" id="{8A4C987D-5C66-8183-324B-F49CF9324ED1}"/>
              </a:ext>
            </a:extLst>
          </p:cNvPr>
          <p:cNvSpPr>
            <a:spLocks noGrp="1" noChangeArrowheads="1"/>
          </p:cNvSpPr>
          <p:nvPr>
            <p:ph idx="1"/>
          </p:nvPr>
        </p:nvSpPr>
        <p:spPr bwMode="auto">
          <a:xfrm>
            <a:off x="838200" y="2016135"/>
            <a:ext cx="1062129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Replaced </a:t>
            </a:r>
            <a:r>
              <a:rPr kumimoji="0" lang="en-US" altLang="en-US" b="1" i="0" u="none" strike="noStrike" cap="none" normalizeH="0" baseline="0" dirty="0">
                <a:ln>
                  <a:noFill/>
                </a:ln>
                <a:solidFill>
                  <a:schemeClr val="tx1"/>
                </a:solidFill>
                <a:effectLst/>
              </a:rPr>
              <a:t>blank Certification values with “Unknown”</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Replaced </a:t>
            </a:r>
            <a:r>
              <a:rPr kumimoji="0" lang="en-US" altLang="en-US" b="1" i="0" u="none" strike="noStrike" cap="none" normalizeH="0" baseline="0" dirty="0">
                <a:ln>
                  <a:noFill/>
                </a:ln>
                <a:solidFill>
                  <a:schemeClr val="tx1"/>
                </a:solidFill>
                <a:effectLst/>
              </a:rPr>
              <a:t>blank Meta Score values with 0</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Cleaned the </a:t>
            </a:r>
            <a:r>
              <a:rPr kumimoji="0" lang="en-US" altLang="en-US" b="1" i="0" u="none" strike="noStrike" cap="none" normalizeH="0" baseline="0" dirty="0">
                <a:ln>
                  <a:noFill/>
                </a:ln>
                <a:solidFill>
                  <a:schemeClr val="tx1"/>
                </a:solidFill>
                <a:effectLst/>
              </a:rPr>
              <a:t>Genre</a:t>
            </a:r>
            <a:r>
              <a:rPr kumimoji="0" lang="en-US" altLang="en-US" b="0" i="0" u="none" strike="noStrike" cap="none" normalizeH="0" baseline="0" dirty="0">
                <a:ln>
                  <a:noFill/>
                </a:ln>
                <a:solidFill>
                  <a:schemeClr val="tx1"/>
                </a:solidFill>
                <a:effectLst/>
              </a:rPr>
              <a:t> column by separating multiple genres and identifying the </a:t>
            </a:r>
            <a:r>
              <a:rPr kumimoji="0" lang="en-US" altLang="en-US" b="1" i="0" u="none" strike="noStrike" cap="none" normalizeH="0" baseline="0" dirty="0">
                <a:ln>
                  <a:noFill/>
                </a:ln>
                <a:solidFill>
                  <a:schemeClr val="tx1"/>
                </a:solidFill>
                <a:effectLst/>
              </a:rPr>
              <a:t>top/primary genre</a:t>
            </a:r>
            <a:r>
              <a:rPr kumimoji="0" lang="en-US" altLang="en-US" b="0" i="0" u="none" strike="noStrike" cap="none" normalizeH="0" baseline="0" dirty="0">
                <a:ln>
                  <a:noFill/>
                </a:ln>
                <a:solidFill>
                  <a:schemeClr val="tx1"/>
                </a:solidFill>
                <a:effectLst/>
              </a:rPr>
              <a:t> for each movie.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Replaced </a:t>
            </a:r>
            <a:r>
              <a:rPr kumimoji="0" lang="en-US" altLang="en-US" b="1" i="0" u="none" strike="noStrike" cap="none" normalizeH="0" baseline="0" dirty="0">
                <a:ln>
                  <a:noFill/>
                </a:ln>
                <a:solidFill>
                  <a:schemeClr val="tx1"/>
                </a:solidFill>
                <a:effectLst/>
              </a:rPr>
              <a:t>blank Gross values with 0</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Created a new </a:t>
            </a:r>
            <a:r>
              <a:rPr kumimoji="0" lang="en-US" altLang="en-US" b="1" i="0" u="none" strike="noStrike" cap="none" normalizeH="0" baseline="0" dirty="0">
                <a:ln>
                  <a:noFill/>
                </a:ln>
                <a:solidFill>
                  <a:schemeClr val="tx1"/>
                </a:solidFill>
                <a:effectLst/>
              </a:rPr>
              <a:t>Gross Group</a:t>
            </a:r>
            <a:r>
              <a:rPr kumimoji="0" lang="en-US" altLang="en-US" b="0" i="0" u="none" strike="noStrike" cap="none" normalizeH="0" baseline="0" dirty="0">
                <a:ln>
                  <a:noFill/>
                </a:ln>
                <a:solidFill>
                  <a:schemeClr val="tx1"/>
                </a:solidFill>
                <a:effectLst/>
              </a:rPr>
              <a:t> column by classifying Gross values into different revenue ranges for easy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After preprocessing, created </a:t>
            </a:r>
            <a:r>
              <a:rPr kumimoji="0" lang="en-US" altLang="en-US" b="1" i="0" u="none" strike="noStrike" cap="none" normalizeH="0" baseline="0" dirty="0">
                <a:ln>
                  <a:noFill/>
                </a:ln>
                <a:solidFill>
                  <a:schemeClr val="tx1"/>
                </a:solidFill>
                <a:effectLst/>
              </a:rPr>
              <a:t>Pivot Tables and Pivot Charts</a:t>
            </a:r>
            <a:r>
              <a:rPr kumimoji="0" lang="en-US" altLang="en-US" b="0" i="0" u="none" strike="noStrike" cap="none" normalizeH="0" baseline="0" dirty="0">
                <a:ln>
                  <a:noFill/>
                </a:ln>
                <a:solidFill>
                  <a:schemeClr val="tx1"/>
                </a:solidFill>
                <a:effectLst/>
              </a:rPr>
              <a:t> based on the defined analysis questions. </a:t>
            </a:r>
          </a:p>
        </p:txBody>
      </p:sp>
    </p:spTree>
    <p:extLst>
      <p:ext uri="{BB962C8B-B14F-4D97-AF65-F5344CB8AC3E}">
        <p14:creationId xmlns:p14="http://schemas.microsoft.com/office/powerpoint/2010/main" val="268386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20E0-F766-1F2B-BF62-B7881B515231}"/>
              </a:ext>
            </a:extLst>
          </p:cNvPr>
          <p:cNvSpPr>
            <a:spLocks noGrp="1"/>
          </p:cNvSpPr>
          <p:nvPr>
            <p:ph type="title"/>
          </p:nvPr>
        </p:nvSpPr>
        <p:spPr/>
        <p:txBody>
          <a:bodyPr/>
          <a:lstStyle/>
          <a:p>
            <a:r>
              <a:rPr lang="en-GB" dirty="0"/>
              <a:t>1.Which movies have the highest Gross? </a:t>
            </a:r>
          </a:p>
        </p:txBody>
      </p:sp>
      <p:sp>
        <p:nvSpPr>
          <p:cNvPr id="3" name="Content Placeholder 2">
            <a:extLst>
              <a:ext uri="{FF2B5EF4-FFF2-40B4-BE49-F238E27FC236}">
                <a16:creationId xmlns:a16="http://schemas.microsoft.com/office/drawing/2014/main" id="{A29D8B58-BAD1-8981-A1EA-57627CF952D0}"/>
              </a:ext>
            </a:extLst>
          </p:cNvPr>
          <p:cNvSpPr>
            <a:spLocks noGrp="1"/>
          </p:cNvSpPr>
          <p:nvPr>
            <p:ph idx="1"/>
          </p:nvPr>
        </p:nvSpPr>
        <p:spPr>
          <a:xfrm>
            <a:off x="838200" y="1825625"/>
            <a:ext cx="5891213" cy="4060825"/>
          </a:xfrm>
        </p:spPr>
        <p:txBody>
          <a:bodyPr/>
          <a:lstStyle/>
          <a:p>
            <a:pPr marL="0" indent="0">
              <a:buNone/>
            </a:pPr>
            <a:r>
              <a:rPr lang="en-GB" dirty="0"/>
              <a:t>This helps to identify the best-performing movies based on Gross.</a:t>
            </a:r>
            <a:br>
              <a:rPr lang="en-GB" dirty="0"/>
            </a:br>
            <a:r>
              <a:rPr lang="en-GB" dirty="0"/>
              <a:t>Movies were placed in Rows and Gross was placed in Values.</a:t>
            </a:r>
            <a:br>
              <a:rPr lang="en-GB" dirty="0"/>
            </a:br>
            <a:r>
              <a:rPr lang="en-GB" dirty="0"/>
              <a:t>The Gross values were sorted in descending order, and a Top 10 filter was applied to identify the movies with the highest box-office revenue.</a:t>
            </a:r>
          </a:p>
        </p:txBody>
      </p:sp>
      <p:pic>
        <p:nvPicPr>
          <p:cNvPr id="5" name="Picture 4">
            <a:extLst>
              <a:ext uri="{FF2B5EF4-FFF2-40B4-BE49-F238E27FC236}">
                <a16:creationId xmlns:a16="http://schemas.microsoft.com/office/drawing/2014/main" id="{C9AD9DAA-911F-B63E-C517-01ECB20349C5}"/>
              </a:ext>
            </a:extLst>
          </p:cNvPr>
          <p:cNvPicPr>
            <a:picLocks noChangeAspect="1"/>
          </p:cNvPicPr>
          <p:nvPr/>
        </p:nvPicPr>
        <p:blipFill>
          <a:blip r:embed="rId2"/>
          <a:stretch>
            <a:fillRect/>
          </a:stretch>
        </p:blipFill>
        <p:spPr>
          <a:xfrm>
            <a:off x="7015163" y="1484312"/>
            <a:ext cx="4900612" cy="3889375"/>
          </a:xfrm>
          <a:prstGeom prst="rect">
            <a:avLst/>
          </a:prstGeom>
        </p:spPr>
      </p:pic>
    </p:spTree>
    <p:extLst>
      <p:ext uri="{BB962C8B-B14F-4D97-AF65-F5344CB8AC3E}">
        <p14:creationId xmlns:p14="http://schemas.microsoft.com/office/powerpoint/2010/main" val="528864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A4B1-D4F1-188E-095F-C2DA65FA37DF}"/>
              </a:ext>
            </a:extLst>
          </p:cNvPr>
          <p:cNvSpPr>
            <a:spLocks noGrp="1"/>
          </p:cNvSpPr>
          <p:nvPr>
            <p:ph type="title"/>
          </p:nvPr>
        </p:nvSpPr>
        <p:spPr/>
        <p:txBody>
          <a:bodyPr/>
          <a:lstStyle/>
          <a:p>
            <a:r>
              <a:rPr lang="en-GB" dirty="0"/>
              <a:t>2.Which genres have the highest Gross?</a:t>
            </a:r>
            <a:br>
              <a:rPr lang="en-GB" dirty="0"/>
            </a:br>
            <a:endParaRPr lang="en-GB" dirty="0"/>
          </a:p>
        </p:txBody>
      </p:sp>
      <p:sp>
        <p:nvSpPr>
          <p:cNvPr id="3" name="Content Placeholder 2">
            <a:extLst>
              <a:ext uri="{FF2B5EF4-FFF2-40B4-BE49-F238E27FC236}">
                <a16:creationId xmlns:a16="http://schemas.microsoft.com/office/drawing/2014/main" id="{2F90B778-5328-316F-075D-BFFDC8EEF30C}"/>
              </a:ext>
            </a:extLst>
          </p:cNvPr>
          <p:cNvSpPr>
            <a:spLocks noGrp="1"/>
          </p:cNvSpPr>
          <p:nvPr>
            <p:ph idx="1"/>
          </p:nvPr>
        </p:nvSpPr>
        <p:spPr>
          <a:xfrm>
            <a:off x="838201" y="1825625"/>
            <a:ext cx="5524236" cy="4351338"/>
          </a:xfrm>
        </p:spPr>
        <p:txBody>
          <a:bodyPr/>
          <a:lstStyle/>
          <a:p>
            <a:pPr marL="0" lvl="0" indent="0" eaLnBrk="0" fontAlgn="base" hangingPunct="0">
              <a:lnSpc>
                <a:spcPct val="100000"/>
              </a:lnSpc>
              <a:spcBef>
                <a:spcPct val="0"/>
              </a:spcBef>
              <a:spcAft>
                <a:spcPct val="0"/>
              </a:spcAft>
              <a:buNone/>
            </a:pPr>
            <a:r>
              <a:rPr lang="en-US" altLang="en-US" b="1" dirty="0"/>
              <a:t>Rows:</a:t>
            </a:r>
            <a:r>
              <a:rPr lang="en-US" altLang="en-US" dirty="0"/>
              <a:t> Genre</a:t>
            </a:r>
          </a:p>
          <a:p>
            <a:pPr marL="0" lvl="0" indent="0" eaLnBrk="0" fontAlgn="base" hangingPunct="0">
              <a:lnSpc>
                <a:spcPct val="100000"/>
              </a:lnSpc>
              <a:spcBef>
                <a:spcPct val="0"/>
              </a:spcBef>
              <a:spcAft>
                <a:spcPct val="0"/>
              </a:spcAft>
              <a:buNone/>
            </a:pPr>
            <a:r>
              <a:rPr lang="en-US" altLang="en-US" b="1" dirty="0"/>
              <a:t>Values:</a:t>
            </a:r>
            <a:r>
              <a:rPr lang="en-US" altLang="en-US" dirty="0"/>
              <a:t> Gross → Sum</a:t>
            </a:r>
          </a:p>
          <a:p>
            <a:pPr marL="0" lvl="0" indent="0" eaLnBrk="0" fontAlgn="base" hangingPunct="0">
              <a:lnSpc>
                <a:spcPct val="100000"/>
              </a:lnSpc>
              <a:spcBef>
                <a:spcPct val="0"/>
              </a:spcBef>
              <a:spcAft>
                <a:spcPct val="0"/>
              </a:spcAft>
              <a:buNone/>
            </a:pPr>
            <a:r>
              <a:rPr lang="en-US" altLang="en-US" dirty="0"/>
              <a:t>Sort </a:t>
            </a:r>
            <a:r>
              <a:rPr lang="en-US" altLang="en-US" b="1" dirty="0"/>
              <a:t>Largest to Smallest</a:t>
            </a:r>
            <a:endParaRPr lang="en-US" altLang="en-US" dirty="0"/>
          </a:p>
          <a:p>
            <a:pPr marL="0" lvl="0" indent="0" eaLnBrk="0" fontAlgn="base" hangingPunct="0">
              <a:lnSpc>
                <a:spcPct val="100000"/>
              </a:lnSpc>
              <a:spcBef>
                <a:spcPct val="0"/>
              </a:spcBef>
              <a:spcAft>
                <a:spcPct val="0"/>
              </a:spcAft>
              <a:buNone/>
            </a:pPr>
            <a:r>
              <a:rPr lang="en-US" altLang="en-US" b="1" dirty="0"/>
              <a:t>Top 10:</a:t>
            </a:r>
            <a:r>
              <a:rPr lang="en-US" altLang="en-US" dirty="0"/>
              <a:t> Apply Top 10 filter by Gross</a:t>
            </a:r>
          </a:p>
          <a:p>
            <a:pPr marL="0" lvl="0" indent="0" eaLnBrk="0" fontAlgn="base" hangingPunct="0">
              <a:lnSpc>
                <a:spcPct val="100000"/>
              </a:lnSpc>
              <a:spcBef>
                <a:spcPct val="0"/>
              </a:spcBef>
              <a:spcAft>
                <a:spcPct val="0"/>
              </a:spcAft>
              <a:buNone/>
            </a:pPr>
            <a:r>
              <a:rPr lang="en-US" altLang="en-US" b="1" dirty="0"/>
              <a:t>Helps identify:</a:t>
            </a:r>
            <a:r>
              <a:rPr lang="en-US" altLang="en-US" dirty="0"/>
              <a:t> The most profitable genres based on total Gross. </a:t>
            </a:r>
          </a:p>
          <a:p>
            <a:endParaRPr lang="en-GB" dirty="0"/>
          </a:p>
        </p:txBody>
      </p:sp>
      <p:sp>
        <p:nvSpPr>
          <p:cNvPr id="6" name="Rectangle 3">
            <a:extLst>
              <a:ext uri="{FF2B5EF4-FFF2-40B4-BE49-F238E27FC236}">
                <a16:creationId xmlns:a16="http://schemas.microsoft.com/office/drawing/2014/main" id="{DA252037-EF7B-E0BA-70EB-AC84020D22A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313570CF-2C23-1C29-45DE-3478ACDFC8E8}"/>
              </a:ext>
            </a:extLst>
          </p:cNvPr>
          <p:cNvPicPr>
            <a:picLocks noChangeAspect="1"/>
          </p:cNvPicPr>
          <p:nvPr/>
        </p:nvPicPr>
        <p:blipFill>
          <a:blip r:embed="rId2"/>
          <a:stretch>
            <a:fillRect/>
          </a:stretch>
        </p:blipFill>
        <p:spPr>
          <a:xfrm>
            <a:off x="6400801" y="1362055"/>
            <a:ext cx="5524236" cy="3924320"/>
          </a:xfrm>
          <a:prstGeom prst="rect">
            <a:avLst/>
          </a:prstGeom>
        </p:spPr>
      </p:pic>
    </p:spTree>
    <p:extLst>
      <p:ext uri="{BB962C8B-B14F-4D97-AF65-F5344CB8AC3E}">
        <p14:creationId xmlns:p14="http://schemas.microsoft.com/office/powerpoint/2010/main" val="1809806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5A1E0-54C8-3D10-D80D-885BBA990DB3}"/>
              </a:ext>
            </a:extLst>
          </p:cNvPr>
          <p:cNvSpPr>
            <a:spLocks noGrp="1"/>
          </p:cNvSpPr>
          <p:nvPr>
            <p:ph type="title"/>
          </p:nvPr>
        </p:nvSpPr>
        <p:spPr/>
        <p:txBody>
          <a:bodyPr>
            <a:normAutofit fontScale="90000"/>
          </a:bodyPr>
          <a:lstStyle/>
          <a:p>
            <a:r>
              <a:rPr lang="en-GB" dirty="0"/>
              <a:t>3.Which movies have the highest IMDb Rating?</a:t>
            </a:r>
            <a:br>
              <a:rPr lang="en-GB" dirty="0"/>
            </a:br>
            <a:endParaRPr lang="en-GB" dirty="0"/>
          </a:p>
        </p:txBody>
      </p:sp>
      <p:sp>
        <p:nvSpPr>
          <p:cNvPr id="4" name="Rectangle 1">
            <a:extLst>
              <a:ext uri="{FF2B5EF4-FFF2-40B4-BE49-F238E27FC236}">
                <a16:creationId xmlns:a16="http://schemas.microsoft.com/office/drawing/2014/main" id="{5F0B3FF3-EC3F-9EB5-C175-B94429F45B60}"/>
              </a:ext>
            </a:extLst>
          </p:cNvPr>
          <p:cNvSpPr>
            <a:spLocks noGrp="1" noChangeArrowheads="1"/>
          </p:cNvSpPr>
          <p:nvPr>
            <p:ph idx="1"/>
          </p:nvPr>
        </p:nvSpPr>
        <p:spPr bwMode="auto">
          <a:xfrm>
            <a:off x="838200" y="1556773"/>
            <a:ext cx="461962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Series_Title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IMDB_Rating</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rPr>
              <a:t>Sort </a:t>
            </a:r>
            <a:r>
              <a:rPr kumimoji="0" lang="en-US" altLang="en-US" b="1" i="0" u="none" strike="noStrike" cap="none" normalizeH="0" baseline="0" dirty="0">
                <a:ln>
                  <a:noFill/>
                </a:ln>
                <a:solidFill>
                  <a:schemeClr val="tx1"/>
                </a:solidFill>
                <a:effectLst/>
              </a:rPr>
              <a:t>Largest to Smallest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Top 10:</a:t>
            </a:r>
            <a:r>
              <a:rPr kumimoji="0" lang="en-US" altLang="en-US" b="0" i="0" u="none" strike="noStrike" cap="none" normalizeH="0" baseline="0" dirty="0">
                <a:ln>
                  <a:noFill/>
                </a:ln>
                <a:solidFill>
                  <a:schemeClr val="tx1"/>
                </a:solidFill>
                <a:effectLst/>
              </a:rPr>
              <a:t> Apply Top 10 filter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Helps </a:t>
            </a:r>
            <a:r>
              <a:rPr kumimoji="0" lang="en-US" altLang="en-US" b="1" i="0" u="none" strike="noStrike" cap="none" normalizeH="0" baseline="0" dirty="0" err="1">
                <a:ln>
                  <a:noFill/>
                </a:ln>
                <a:solidFill>
                  <a:schemeClr val="tx1"/>
                </a:solidFill>
                <a:effectLst/>
              </a:rPr>
              <a:t>identify:</a:t>
            </a:r>
            <a:r>
              <a:rPr kumimoji="0" lang="en-US" altLang="en-US" b="0" i="0" u="none" strike="noStrike" cap="none" normalizeH="0" baseline="0" dirty="0" err="1">
                <a:ln>
                  <a:noFill/>
                </a:ln>
                <a:solidFill>
                  <a:schemeClr val="tx1"/>
                </a:solidFill>
                <a:effectLst/>
              </a:rPr>
              <a:t>The</a:t>
            </a:r>
            <a:r>
              <a:rPr kumimoji="0" lang="en-US" altLang="en-US" b="0" i="0" u="none" strike="noStrike" cap="none" normalizeH="0" baseline="0" dirty="0">
                <a:ln>
                  <a:noFill/>
                </a:ln>
                <a:solidFill>
                  <a:schemeClr val="tx1"/>
                </a:solidFill>
                <a:effectLst/>
              </a:rPr>
              <a:t> Top 10 highest-rated movies. </a:t>
            </a:r>
          </a:p>
        </p:txBody>
      </p:sp>
      <p:pic>
        <p:nvPicPr>
          <p:cNvPr id="6" name="Picture 5">
            <a:extLst>
              <a:ext uri="{FF2B5EF4-FFF2-40B4-BE49-F238E27FC236}">
                <a16:creationId xmlns:a16="http://schemas.microsoft.com/office/drawing/2014/main" id="{D8AD40F5-6B03-DEDF-F04B-A318C9C6547D}"/>
              </a:ext>
            </a:extLst>
          </p:cNvPr>
          <p:cNvPicPr>
            <a:picLocks noChangeAspect="1"/>
          </p:cNvPicPr>
          <p:nvPr/>
        </p:nvPicPr>
        <p:blipFill>
          <a:blip r:embed="rId2"/>
          <a:stretch>
            <a:fillRect/>
          </a:stretch>
        </p:blipFill>
        <p:spPr>
          <a:xfrm>
            <a:off x="5457825" y="1426369"/>
            <a:ext cx="6243855" cy="3574255"/>
          </a:xfrm>
          <a:prstGeom prst="rect">
            <a:avLst/>
          </a:prstGeom>
        </p:spPr>
      </p:pic>
    </p:spTree>
    <p:extLst>
      <p:ext uri="{BB962C8B-B14F-4D97-AF65-F5344CB8AC3E}">
        <p14:creationId xmlns:p14="http://schemas.microsoft.com/office/powerpoint/2010/main" val="3235158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E719F-8FED-F71C-B0CD-66727EC4677E}"/>
              </a:ext>
            </a:extLst>
          </p:cNvPr>
          <p:cNvSpPr>
            <a:spLocks noGrp="1"/>
          </p:cNvSpPr>
          <p:nvPr>
            <p:ph type="title"/>
          </p:nvPr>
        </p:nvSpPr>
        <p:spPr/>
        <p:txBody>
          <a:bodyPr/>
          <a:lstStyle/>
          <a:p>
            <a:r>
              <a:rPr lang="en-GB" dirty="0"/>
              <a:t>4.Which directors have the highest total Gross?</a:t>
            </a:r>
          </a:p>
        </p:txBody>
      </p:sp>
      <p:sp>
        <p:nvSpPr>
          <p:cNvPr id="4" name="Rectangle 1">
            <a:extLst>
              <a:ext uri="{FF2B5EF4-FFF2-40B4-BE49-F238E27FC236}">
                <a16:creationId xmlns:a16="http://schemas.microsoft.com/office/drawing/2014/main" id="{238CB88F-36CD-379A-0414-6C7BDFEA2164}"/>
              </a:ext>
            </a:extLst>
          </p:cNvPr>
          <p:cNvSpPr>
            <a:spLocks noGrp="1" noChangeArrowheads="1"/>
          </p:cNvSpPr>
          <p:nvPr>
            <p:ph idx="1"/>
          </p:nvPr>
        </p:nvSpPr>
        <p:spPr bwMode="auto">
          <a:xfrm>
            <a:off x="838200" y="2447023"/>
            <a:ext cx="52578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Director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Gross → Sum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Sort </a:t>
            </a:r>
            <a:r>
              <a:rPr kumimoji="0" lang="en-US" altLang="en-US" b="1" i="0" u="none" strike="noStrike" cap="none" normalizeH="0" baseline="0" dirty="0">
                <a:ln>
                  <a:noFill/>
                </a:ln>
                <a:solidFill>
                  <a:schemeClr val="tx1"/>
                </a:solidFill>
                <a:effectLst/>
              </a:rPr>
              <a:t>Largest to Smallest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Top 10:</a:t>
            </a:r>
            <a:r>
              <a:rPr kumimoji="0" lang="en-US" altLang="en-US" b="0" i="0" u="none" strike="noStrike" cap="none" normalizeH="0" baseline="0" dirty="0">
                <a:ln>
                  <a:noFill/>
                </a:ln>
                <a:solidFill>
                  <a:schemeClr val="tx1"/>
                </a:solidFill>
                <a:effectLst/>
              </a:rPr>
              <a:t> Apply Top 10 filter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Helps identify:</a:t>
            </a:r>
            <a:r>
              <a:rPr kumimoji="0" lang="en-US" altLang="en-US" b="0" i="0" u="none" strike="noStrike" cap="none" normalizeH="0" baseline="0" dirty="0">
                <a:ln>
                  <a:noFill/>
                </a:ln>
                <a:solidFill>
                  <a:schemeClr val="tx1"/>
                </a:solidFill>
                <a:effectLst/>
              </a:rPr>
              <a:t> The Top 10 commercially successful directors based on total Gross. </a:t>
            </a:r>
          </a:p>
        </p:txBody>
      </p:sp>
      <p:pic>
        <p:nvPicPr>
          <p:cNvPr id="6" name="Picture 5">
            <a:extLst>
              <a:ext uri="{FF2B5EF4-FFF2-40B4-BE49-F238E27FC236}">
                <a16:creationId xmlns:a16="http://schemas.microsoft.com/office/drawing/2014/main" id="{1AF6B83F-7D27-728D-74B7-F1FB15D4198D}"/>
              </a:ext>
            </a:extLst>
          </p:cNvPr>
          <p:cNvPicPr>
            <a:picLocks noChangeAspect="1"/>
          </p:cNvPicPr>
          <p:nvPr/>
        </p:nvPicPr>
        <p:blipFill>
          <a:blip r:embed="rId2"/>
          <a:stretch>
            <a:fillRect/>
          </a:stretch>
        </p:blipFill>
        <p:spPr>
          <a:xfrm>
            <a:off x="6343323" y="1947671"/>
            <a:ext cx="5257799" cy="3338704"/>
          </a:xfrm>
          <a:prstGeom prst="rect">
            <a:avLst/>
          </a:prstGeom>
        </p:spPr>
      </p:pic>
    </p:spTree>
    <p:extLst>
      <p:ext uri="{BB962C8B-B14F-4D97-AF65-F5344CB8AC3E}">
        <p14:creationId xmlns:p14="http://schemas.microsoft.com/office/powerpoint/2010/main" val="2217272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8BD3-D534-ACEC-EC89-416672A1D286}"/>
              </a:ext>
            </a:extLst>
          </p:cNvPr>
          <p:cNvSpPr>
            <a:spLocks noGrp="1"/>
          </p:cNvSpPr>
          <p:nvPr>
            <p:ph type="title"/>
          </p:nvPr>
        </p:nvSpPr>
        <p:spPr/>
        <p:txBody>
          <a:bodyPr/>
          <a:lstStyle/>
          <a:p>
            <a:r>
              <a:rPr lang="en-GB" b="1" dirty="0"/>
              <a:t>5.How does total Gross vary by year?</a:t>
            </a:r>
            <a:br>
              <a:rPr lang="en-GB" b="1" dirty="0"/>
            </a:br>
            <a:endParaRPr lang="en-GB" dirty="0"/>
          </a:p>
        </p:txBody>
      </p:sp>
      <p:sp>
        <p:nvSpPr>
          <p:cNvPr id="4" name="Rectangle 1">
            <a:extLst>
              <a:ext uri="{FF2B5EF4-FFF2-40B4-BE49-F238E27FC236}">
                <a16:creationId xmlns:a16="http://schemas.microsoft.com/office/drawing/2014/main" id="{FAD9EBC5-BBDD-F0CD-8D1B-8A6F89780286}"/>
              </a:ext>
            </a:extLst>
          </p:cNvPr>
          <p:cNvSpPr>
            <a:spLocks noGrp="1" noChangeArrowheads="1"/>
          </p:cNvSpPr>
          <p:nvPr>
            <p:ph idx="1"/>
          </p:nvPr>
        </p:nvSpPr>
        <p:spPr bwMode="auto">
          <a:xfrm>
            <a:off x="838201" y="1397675"/>
            <a:ext cx="466248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Released_Year</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Gross → Sum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rPr>
              <a:t>Sort by </a:t>
            </a:r>
            <a:r>
              <a:rPr kumimoji="0" lang="en-US" altLang="en-US" b="1" i="0" u="none" strike="noStrike" cap="none" normalizeH="0" baseline="0" dirty="0">
                <a:ln>
                  <a:noFill/>
                </a:ln>
                <a:solidFill>
                  <a:schemeClr val="tx1"/>
                </a:solidFill>
                <a:effectLst/>
              </a:rPr>
              <a:t>Year</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Helps identify:</a:t>
            </a:r>
            <a:r>
              <a:rPr kumimoji="0" lang="en-US" altLang="en-US" b="0" i="0" u="none" strike="noStrike" cap="none" normalizeH="0" baseline="0" dirty="0">
                <a:ln>
                  <a:noFill/>
                </a:ln>
                <a:solidFill>
                  <a:schemeClr val="tx1"/>
                </a:solidFill>
                <a:effectLst/>
              </a:rPr>
              <a:t> The yearly trend in total Gross. </a:t>
            </a:r>
          </a:p>
        </p:txBody>
      </p:sp>
      <p:pic>
        <p:nvPicPr>
          <p:cNvPr id="6" name="Picture 5">
            <a:extLst>
              <a:ext uri="{FF2B5EF4-FFF2-40B4-BE49-F238E27FC236}">
                <a16:creationId xmlns:a16="http://schemas.microsoft.com/office/drawing/2014/main" id="{826A0B01-3044-860F-E3B1-AFC39C1F2AB2}"/>
              </a:ext>
            </a:extLst>
          </p:cNvPr>
          <p:cNvPicPr>
            <a:picLocks noChangeAspect="1"/>
          </p:cNvPicPr>
          <p:nvPr/>
        </p:nvPicPr>
        <p:blipFill>
          <a:blip r:embed="rId2"/>
          <a:stretch>
            <a:fillRect/>
          </a:stretch>
        </p:blipFill>
        <p:spPr>
          <a:xfrm>
            <a:off x="6095999" y="1397675"/>
            <a:ext cx="5257799" cy="3288625"/>
          </a:xfrm>
          <a:prstGeom prst="rect">
            <a:avLst/>
          </a:prstGeom>
        </p:spPr>
      </p:pic>
    </p:spTree>
    <p:extLst>
      <p:ext uri="{BB962C8B-B14F-4D97-AF65-F5344CB8AC3E}">
        <p14:creationId xmlns:p14="http://schemas.microsoft.com/office/powerpoint/2010/main" val="1528604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311BE-5524-F4C1-5608-3B535EAE5E60}"/>
              </a:ext>
            </a:extLst>
          </p:cNvPr>
          <p:cNvSpPr>
            <a:spLocks noGrp="1"/>
          </p:cNvSpPr>
          <p:nvPr>
            <p:ph type="title"/>
          </p:nvPr>
        </p:nvSpPr>
        <p:spPr/>
        <p:txBody>
          <a:bodyPr/>
          <a:lstStyle/>
          <a:p>
            <a:r>
              <a:rPr lang="en-GB" dirty="0"/>
              <a:t>6.Does IMDb Rating affect Gross?</a:t>
            </a:r>
            <a:br>
              <a:rPr lang="en-GB" dirty="0"/>
            </a:br>
            <a:endParaRPr lang="en-GB" dirty="0"/>
          </a:p>
        </p:txBody>
      </p:sp>
      <p:sp>
        <p:nvSpPr>
          <p:cNvPr id="4" name="Rectangle 1">
            <a:extLst>
              <a:ext uri="{FF2B5EF4-FFF2-40B4-BE49-F238E27FC236}">
                <a16:creationId xmlns:a16="http://schemas.microsoft.com/office/drawing/2014/main" id="{AAA24389-62E2-9AED-6422-057F92F5066F}"/>
              </a:ext>
            </a:extLst>
          </p:cNvPr>
          <p:cNvSpPr>
            <a:spLocks noGrp="1" noChangeArrowheads="1"/>
          </p:cNvSpPr>
          <p:nvPr>
            <p:ph idx="1"/>
          </p:nvPr>
        </p:nvSpPr>
        <p:spPr bwMode="auto">
          <a:xfrm>
            <a:off x="838200" y="1613118"/>
            <a:ext cx="51054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mj-lt"/>
              </a:rPr>
              <a:t>Values:</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IMDB_Rating</a:t>
            </a:r>
            <a:r>
              <a:rPr kumimoji="0" lang="en-US" altLang="en-US" b="0" i="0" u="none" strike="noStrike" cap="none" normalizeH="0" baseline="0" dirty="0">
                <a:ln>
                  <a:noFill/>
                </a:ln>
                <a:solidFill>
                  <a:schemeClr val="tx1"/>
                </a:solidFill>
                <a:effectLst/>
                <a:latin typeface="+mj-lt"/>
              </a:rPr>
              <a:t> and Gross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mj-lt"/>
              </a:rPr>
              <a:t>Create a </a:t>
            </a:r>
            <a:r>
              <a:rPr lang="en-US" altLang="en-US" b="1" dirty="0">
                <a:latin typeface="+mj-lt"/>
              </a:rPr>
              <a:t>Line</a:t>
            </a:r>
            <a:r>
              <a:rPr kumimoji="0" lang="en-US" altLang="en-US" b="1" i="0" u="none" strike="noStrike" cap="none" normalizeH="0" baseline="0" dirty="0">
                <a:ln>
                  <a:noFill/>
                </a:ln>
                <a:solidFill>
                  <a:schemeClr val="tx1"/>
                </a:solidFill>
                <a:effectLst/>
                <a:latin typeface="+mj-lt"/>
              </a:rPr>
              <a:t> Chart</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mj-lt"/>
              </a:rPr>
              <a:t>Helps identify:</a:t>
            </a:r>
            <a:r>
              <a:rPr kumimoji="0" lang="en-US" altLang="en-US" b="0" i="0" u="none" strike="noStrike" cap="none" normalizeH="0" baseline="0" dirty="0">
                <a:ln>
                  <a:noFill/>
                </a:ln>
                <a:solidFill>
                  <a:schemeClr val="tx1"/>
                </a:solidFill>
                <a:effectLst/>
                <a:latin typeface="+mj-lt"/>
              </a:rPr>
              <a:t> The relationship between IMDb Rating and Gross. </a:t>
            </a:r>
          </a:p>
        </p:txBody>
      </p:sp>
      <p:pic>
        <p:nvPicPr>
          <p:cNvPr id="6" name="Picture 5">
            <a:extLst>
              <a:ext uri="{FF2B5EF4-FFF2-40B4-BE49-F238E27FC236}">
                <a16:creationId xmlns:a16="http://schemas.microsoft.com/office/drawing/2014/main" id="{F0212C8E-9204-9837-BF94-2589F36A3240}"/>
              </a:ext>
            </a:extLst>
          </p:cNvPr>
          <p:cNvPicPr>
            <a:picLocks noChangeAspect="1"/>
          </p:cNvPicPr>
          <p:nvPr/>
        </p:nvPicPr>
        <p:blipFill>
          <a:blip r:embed="rId2"/>
          <a:stretch>
            <a:fillRect/>
          </a:stretch>
        </p:blipFill>
        <p:spPr>
          <a:xfrm>
            <a:off x="6096000" y="1447591"/>
            <a:ext cx="4810796" cy="2991267"/>
          </a:xfrm>
          <a:prstGeom prst="rect">
            <a:avLst/>
          </a:prstGeom>
        </p:spPr>
      </p:pic>
    </p:spTree>
    <p:extLst>
      <p:ext uri="{BB962C8B-B14F-4D97-AF65-F5344CB8AC3E}">
        <p14:creationId xmlns:p14="http://schemas.microsoft.com/office/powerpoint/2010/main" val="3498671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8D509-35DF-AED9-DAA5-3FBA81FE96EB}"/>
              </a:ext>
            </a:extLst>
          </p:cNvPr>
          <p:cNvSpPr>
            <a:spLocks noGrp="1"/>
          </p:cNvSpPr>
          <p:nvPr>
            <p:ph type="title"/>
          </p:nvPr>
        </p:nvSpPr>
        <p:spPr/>
        <p:txBody>
          <a:bodyPr/>
          <a:lstStyle/>
          <a:p>
            <a:r>
              <a:rPr lang="en-GB" dirty="0"/>
              <a:t>7.Which movies have the highest Meta Score?</a:t>
            </a:r>
          </a:p>
        </p:txBody>
      </p:sp>
      <p:sp>
        <p:nvSpPr>
          <p:cNvPr id="4" name="Rectangle 1">
            <a:extLst>
              <a:ext uri="{FF2B5EF4-FFF2-40B4-BE49-F238E27FC236}">
                <a16:creationId xmlns:a16="http://schemas.microsoft.com/office/drawing/2014/main" id="{F62918BD-6E88-F5C2-776C-506BEC8D28B0}"/>
              </a:ext>
            </a:extLst>
          </p:cNvPr>
          <p:cNvSpPr>
            <a:spLocks noGrp="1" noChangeArrowheads="1"/>
          </p:cNvSpPr>
          <p:nvPr>
            <p:ph idx="1"/>
          </p:nvPr>
        </p:nvSpPr>
        <p:spPr bwMode="auto">
          <a:xfrm>
            <a:off x="976312" y="1690688"/>
            <a:ext cx="511968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Rows:</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Series_Title</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Values:</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Meta_score</a:t>
            </a:r>
            <a:r>
              <a:rPr kumimoji="0" lang="en-US" altLang="en-US" b="0" i="0" u="none" strike="noStrike" cap="none" normalizeH="0" baseline="0" dirty="0">
                <a:ln>
                  <a:noFill/>
                </a:ln>
                <a:solidFill>
                  <a:schemeClr val="tx1"/>
                </a:solidFill>
                <a:effectLst/>
                <a:latin typeface="+mj-lt"/>
              </a:rPr>
              <a:t> → Max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Sort </a:t>
            </a:r>
            <a:r>
              <a:rPr kumimoji="0" lang="en-US" altLang="en-US" b="1" i="0" u="none" strike="noStrike" cap="none" normalizeH="0" baseline="0" dirty="0">
                <a:ln>
                  <a:noFill/>
                </a:ln>
                <a:solidFill>
                  <a:schemeClr val="tx1"/>
                </a:solidFill>
                <a:effectLst/>
                <a:latin typeface="+mj-lt"/>
              </a:rPr>
              <a:t>Largest to Smallest</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Top 10:</a:t>
            </a:r>
            <a:r>
              <a:rPr kumimoji="0" lang="en-US" altLang="en-US" b="0" i="0" u="none" strike="noStrike" cap="none" normalizeH="0" baseline="0" dirty="0">
                <a:ln>
                  <a:noFill/>
                </a:ln>
                <a:solidFill>
                  <a:schemeClr val="tx1"/>
                </a:solidFill>
                <a:effectLst/>
                <a:latin typeface="+mj-lt"/>
              </a:rPr>
              <a:t> Apply Top 10 filter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Helps identify:</a:t>
            </a:r>
            <a:r>
              <a:rPr kumimoji="0" lang="en-US" altLang="en-US" b="0" i="0" u="none" strike="noStrike" cap="none" normalizeH="0" baseline="0" dirty="0">
                <a:ln>
                  <a:noFill/>
                </a:ln>
                <a:solidFill>
                  <a:schemeClr val="tx1"/>
                </a:solidFill>
                <a:effectLst/>
                <a:latin typeface="+mj-lt"/>
              </a:rPr>
              <a:t> The Top 10 movies with the highest critics' scores. </a:t>
            </a:r>
          </a:p>
        </p:txBody>
      </p:sp>
      <p:pic>
        <p:nvPicPr>
          <p:cNvPr id="6" name="Picture 5">
            <a:extLst>
              <a:ext uri="{FF2B5EF4-FFF2-40B4-BE49-F238E27FC236}">
                <a16:creationId xmlns:a16="http://schemas.microsoft.com/office/drawing/2014/main" id="{68993491-FFB6-1497-7ECE-58733779BF5B}"/>
              </a:ext>
            </a:extLst>
          </p:cNvPr>
          <p:cNvPicPr>
            <a:picLocks noChangeAspect="1"/>
          </p:cNvPicPr>
          <p:nvPr/>
        </p:nvPicPr>
        <p:blipFill>
          <a:blip r:embed="rId2"/>
          <a:stretch>
            <a:fillRect/>
          </a:stretch>
        </p:blipFill>
        <p:spPr>
          <a:xfrm>
            <a:off x="6757739" y="2385845"/>
            <a:ext cx="3562847" cy="2400635"/>
          </a:xfrm>
          <a:prstGeom prst="rect">
            <a:avLst/>
          </a:prstGeom>
        </p:spPr>
      </p:pic>
    </p:spTree>
    <p:extLst>
      <p:ext uri="{BB962C8B-B14F-4D97-AF65-F5344CB8AC3E}">
        <p14:creationId xmlns:p14="http://schemas.microsoft.com/office/powerpoint/2010/main" val="150233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1603-37D9-3A20-6A65-34045B1ECDD1}"/>
              </a:ext>
            </a:extLst>
          </p:cNvPr>
          <p:cNvSpPr>
            <a:spLocks noGrp="1"/>
          </p:cNvSpPr>
          <p:nvPr>
            <p:ph type="title"/>
          </p:nvPr>
        </p:nvSpPr>
        <p:spPr/>
        <p:txBody>
          <a:bodyPr>
            <a:normAutofit fontScale="90000"/>
          </a:bodyPr>
          <a:lstStyle/>
          <a:p>
            <a:r>
              <a:rPr lang="en-GB" dirty="0"/>
              <a:t>8.How does IMDb Rating compare with Meta Score?</a:t>
            </a:r>
            <a:br>
              <a:rPr lang="en-GB" dirty="0"/>
            </a:br>
            <a:endParaRPr lang="en-GB" dirty="0"/>
          </a:p>
        </p:txBody>
      </p:sp>
      <p:sp>
        <p:nvSpPr>
          <p:cNvPr id="4" name="Rectangle 1">
            <a:extLst>
              <a:ext uri="{FF2B5EF4-FFF2-40B4-BE49-F238E27FC236}">
                <a16:creationId xmlns:a16="http://schemas.microsoft.com/office/drawing/2014/main" id="{E13BBF39-672D-C0B2-E5C8-8D47A7864CFB}"/>
              </a:ext>
            </a:extLst>
          </p:cNvPr>
          <p:cNvSpPr>
            <a:spLocks noGrp="1" noChangeArrowheads="1"/>
          </p:cNvSpPr>
          <p:nvPr>
            <p:ph idx="1"/>
          </p:nvPr>
        </p:nvSpPr>
        <p:spPr bwMode="auto">
          <a:xfrm>
            <a:off x="838200" y="1433830"/>
            <a:ext cx="480536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Rows: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Series_Title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Values: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IMDB_Rating</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0" u="none" strike="noStrike" cap="none" normalizeH="0" baseline="0" dirty="0" err="1">
                <a:ln>
                  <a:noFill/>
                </a:ln>
                <a:solidFill>
                  <a:schemeClr val="tx1"/>
                </a:solidFill>
                <a:effectLst/>
                <a:latin typeface="Arial" panose="020B0604020202020204" pitchFamily="34" charset="0"/>
              </a:rPr>
              <a:t>Meta_score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Create a </a:t>
            </a:r>
            <a:r>
              <a:rPr lang="en-US" altLang="en-US" sz="1800" b="1" dirty="0">
                <a:latin typeface="Arial" panose="020B0604020202020204" pitchFamily="34" charset="0"/>
              </a:rPr>
              <a:t>Line</a:t>
            </a:r>
            <a:r>
              <a:rPr kumimoji="0" lang="en-US" altLang="en-US" sz="1800" b="1" i="0" u="none" strike="noStrike" cap="none" normalizeH="0" baseline="0" dirty="0">
                <a:ln>
                  <a:noFill/>
                </a:ln>
                <a:solidFill>
                  <a:schemeClr val="tx1"/>
                </a:solidFill>
                <a:effectLst/>
                <a:latin typeface="Arial" panose="020B0604020202020204" pitchFamily="34" charset="0"/>
              </a:rPr>
              <a:t> Chart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Helps compare:</a:t>
            </a:r>
            <a:r>
              <a:rPr kumimoji="0" lang="en-US" altLang="en-US" sz="1800" b="0" i="0" u="none" strike="noStrike" cap="none" normalizeH="0" baseline="0" dirty="0">
                <a:ln>
                  <a:noFill/>
                </a:ln>
                <a:solidFill>
                  <a:schemeClr val="tx1"/>
                </a:solidFill>
                <a:effectLst/>
                <a:latin typeface="Arial" panose="020B0604020202020204" pitchFamily="34" charset="0"/>
              </a:rPr>
              <a:t> Audience ratings with critics' scores. </a:t>
            </a:r>
          </a:p>
        </p:txBody>
      </p:sp>
      <p:pic>
        <p:nvPicPr>
          <p:cNvPr id="6" name="Picture 5">
            <a:extLst>
              <a:ext uri="{FF2B5EF4-FFF2-40B4-BE49-F238E27FC236}">
                <a16:creationId xmlns:a16="http://schemas.microsoft.com/office/drawing/2014/main" id="{A3C5EE5F-FF66-4DF5-D01B-FBB7928B09D3}"/>
              </a:ext>
            </a:extLst>
          </p:cNvPr>
          <p:cNvPicPr>
            <a:picLocks noChangeAspect="1"/>
          </p:cNvPicPr>
          <p:nvPr/>
        </p:nvPicPr>
        <p:blipFill>
          <a:blip r:embed="rId2"/>
          <a:stretch>
            <a:fillRect/>
          </a:stretch>
        </p:blipFill>
        <p:spPr>
          <a:xfrm>
            <a:off x="6096000" y="1209474"/>
            <a:ext cx="4706007" cy="2867425"/>
          </a:xfrm>
          <a:prstGeom prst="rect">
            <a:avLst/>
          </a:prstGeom>
        </p:spPr>
      </p:pic>
    </p:spTree>
    <p:extLst>
      <p:ext uri="{BB962C8B-B14F-4D97-AF65-F5344CB8AC3E}">
        <p14:creationId xmlns:p14="http://schemas.microsoft.com/office/powerpoint/2010/main" val="707215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7D72-75EA-B502-D932-1BB0FB380CE5}"/>
              </a:ext>
            </a:extLst>
          </p:cNvPr>
          <p:cNvSpPr>
            <a:spLocks noGrp="1"/>
          </p:cNvSpPr>
          <p:nvPr>
            <p:ph type="title"/>
          </p:nvPr>
        </p:nvSpPr>
        <p:spPr/>
        <p:txBody>
          <a:bodyPr/>
          <a:lstStyle/>
          <a:p>
            <a:r>
              <a:rPr lang="en-GB" dirty="0"/>
              <a:t>9.How many movies are there for each certification?</a:t>
            </a:r>
          </a:p>
        </p:txBody>
      </p:sp>
      <p:sp>
        <p:nvSpPr>
          <p:cNvPr id="4" name="Rectangle 1">
            <a:extLst>
              <a:ext uri="{FF2B5EF4-FFF2-40B4-BE49-F238E27FC236}">
                <a16:creationId xmlns:a16="http://schemas.microsoft.com/office/drawing/2014/main" id="{2AE76B01-BBEC-0204-4A29-AD85CDCCDB15}"/>
              </a:ext>
            </a:extLst>
          </p:cNvPr>
          <p:cNvSpPr>
            <a:spLocks noGrp="1" noChangeArrowheads="1"/>
          </p:cNvSpPr>
          <p:nvPr>
            <p:ph idx="1"/>
          </p:nvPr>
        </p:nvSpPr>
        <p:spPr bwMode="auto">
          <a:xfrm>
            <a:off x="723901" y="2020660"/>
            <a:ext cx="614838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Certificate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Series_Title</a:t>
            </a:r>
            <a:r>
              <a:rPr kumimoji="0" lang="en-US" altLang="en-US" b="0" i="0" u="none" strike="noStrike" cap="none" normalizeH="0" baseline="0" dirty="0">
                <a:ln>
                  <a:noFill/>
                </a:ln>
                <a:solidFill>
                  <a:schemeClr val="tx1"/>
                </a:solidFill>
                <a:effectLst/>
              </a:rPr>
              <a:t> → Count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Create a </a:t>
            </a:r>
            <a:r>
              <a:rPr kumimoji="0" lang="en-US" altLang="en-US" b="1" i="0" u="none" strike="noStrike" cap="none" normalizeH="0" baseline="0" dirty="0">
                <a:ln>
                  <a:noFill/>
                </a:ln>
                <a:solidFill>
                  <a:schemeClr val="tx1"/>
                </a:solidFill>
                <a:effectLst/>
              </a:rPr>
              <a:t>Column chart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Helps identify:</a:t>
            </a:r>
            <a:r>
              <a:rPr kumimoji="0" lang="en-US" altLang="en-US" b="0" i="0" u="none" strike="noStrike" cap="none" normalizeH="0" baseline="0" dirty="0">
                <a:ln>
                  <a:noFill/>
                </a:ln>
                <a:solidFill>
                  <a:schemeClr val="tx1"/>
                </a:solidFill>
                <a:effectLst/>
              </a:rPr>
              <a:t> The number of movies in each certification category. </a:t>
            </a:r>
          </a:p>
        </p:txBody>
      </p:sp>
      <p:pic>
        <p:nvPicPr>
          <p:cNvPr id="6" name="Picture 5">
            <a:extLst>
              <a:ext uri="{FF2B5EF4-FFF2-40B4-BE49-F238E27FC236}">
                <a16:creationId xmlns:a16="http://schemas.microsoft.com/office/drawing/2014/main" id="{299D00BC-B3B0-1CB0-1E5B-08F0E18116F9}"/>
              </a:ext>
            </a:extLst>
          </p:cNvPr>
          <p:cNvPicPr>
            <a:picLocks noChangeAspect="1"/>
          </p:cNvPicPr>
          <p:nvPr/>
        </p:nvPicPr>
        <p:blipFill>
          <a:blip r:embed="rId2"/>
          <a:stretch>
            <a:fillRect/>
          </a:stretch>
        </p:blipFill>
        <p:spPr>
          <a:xfrm>
            <a:off x="6685882" y="1838937"/>
            <a:ext cx="4782217" cy="2610214"/>
          </a:xfrm>
          <a:prstGeom prst="rect">
            <a:avLst/>
          </a:prstGeom>
        </p:spPr>
      </p:pic>
    </p:spTree>
    <p:extLst>
      <p:ext uri="{BB962C8B-B14F-4D97-AF65-F5344CB8AC3E}">
        <p14:creationId xmlns:p14="http://schemas.microsoft.com/office/powerpoint/2010/main" val="2945920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FB913-708A-3BE3-FE86-5B132B5DCBC3}"/>
              </a:ext>
            </a:extLst>
          </p:cNvPr>
          <p:cNvSpPr>
            <a:spLocks noGrp="1"/>
          </p:cNvSpPr>
          <p:nvPr>
            <p:ph type="title"/>
          </p:nvPr>
        </p:nvSpPr>
        <p:spPr/>
        <p:txBody>
          <a:bodyPr>
            <a:normAutofit fontScale="90000"/>
          </a:bodyPr>
          <a:lstStyle/>
          <a:p>
            <a:r>
              <a:rPr lang="en-GB" dirty="0"/>
              <a:t>10.Which movies have the highest number of votes by movie?</a:t>
            </a:r>
            <a:br>
              <a:rPr lang="en-GB" dirty="0"/>
            </a:br>
            <a:endParaRPr lang="en-GB" dirty="0"/>
          </a:p>
        </p:txBody>
      </p:sp>
      <p:sp>
        <p:nvSpPr>
          <p:cNvPr id="4" name="Rectangle 1">
            <a:extLst>
              <a:ext uri="{FF2B5EF4-FFF2-40B4-BE49-F238E27FC236}">
                <a16:creationId xmlns:a16="http://schemas.microsoft.com/office/drawing/2014/main" id="{7C2CFAD9-B163-4239-D9EE-F16C6BC49835}"/>
              </a:ext>
            </a:extLst>
          </p:cNvPr>
          <p:cNvSpPr>
            <a:spLocks noGrp="1" noChangeArrowheads="1"/>
          </p:cNvSpPr>
          <p:nvPr>
            <p:ph idx="1"/>
          </p:nvPr>
        </p:nvSpPr>
        <p:spPr bwMode="auto">
          <a:xfrm>
            <a:off x="838200" y="1904434"/>
            <a:ext cx="680561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Series_Title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No_of_Votes</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Sort </a:t>
            </a:r>
            <a:r>
              <a:rPr kumimoji="0" lang="en-US" altLang="en-US" b="1" i="0" u="none" strike="noStrike" cap="none" normalizeH="0" baseline="0" dirty="0">
                <a:ln>
                  <a:noFill/>
                </a:ln>
                <a:solidFill>
                  <a:schemeClr val="tx1"/>
                </a:solidFill>
                <a:effectLst/>
              </a:rPr>
              <a:t>Largest to Smallest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Top 10:</a:t>
            </a:r>
            <a:r>
              <a:rPr kumimoji="0" lang="en-US" altLang="en-US" b="0" i="0" u="none" strike="noStrike" cap="none" normalizeH="0" baseline="0" dirty="0">
                <a:ln>
                  <a:noFill/>
                </a:ln>
                <a:solidFill>
                  <a:schemeClr val="tx1"/>
                </a:solidFill>
                <a:effectLst/>
              </a:rPr>
              <a:t> Apply Top 10 filter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Helps identify:</a:t>
            </a:r>
            <a:r>
              <a:rPr kumimoji="0" lang="en-US" altLang="en-US" b="0" i="0" u="none" strike="noStrike" cap="none" normalizeH="0" baseline="0" dirty="0">
                <a:ln>
                  <a:noFill/>
                </a:ln>
                <a:solidFill>
                  <a:schemeClr val="tx1"/>
                </a:solidFill>
                <a:effectLst/>
              </a:rPr>
              <a:t> The Top 10 most-voted movies based on audience votes. </a:t>
            </a:r>
          </a:p>
        </p:txBody>
      </p:sp>
      <p:pic>
        <p:nvPicPr>
          <p:cNvPr id="6" name="Picture 5">
            <a:extLst>
              <a:ext uri="{FF2B5EF4-FFF2-40B4-BE49-F238E27FC236}">
                <a16:creationId xmlns:a16="http://schemas.microsoft.com/office/drawing/2014/main" id="{64FD6F4B-524A-EA7F-1746-BA38F3ACEB96}"/>
              </a:ext>
            </a:extLst>
          </p:cNvPr>
          <p:cNvPicPr>
            <a:picLocks noChangeAspect="1"/>
          </p:cNvPicPr>
          <p:nvPr/>
        </p:nvPicPr>
        <p:blipFill>
          <a:blip r:embed="rId2"/>
          <a:stretch>
            <a:fillRect/>
          </a:stretch>
        </p:blipFill>
        <p:spPr>
          <a:xfrm>
            <a:off x="7010085" y="1981024"/>
            <a:ext cx="4515480" cy="2524477"/>
          </a:xfrm>
          <a:prstGeom prst="rect">
            <a:avLst/>
          </a:prstGeom>
        </p:spPr>
      </p:pic>
    </p:spTree>
    <p:extLst>
      <p:ext uri="{BB962C8B-B14F-4D97-AF65-F5344CB8AC3E}">
        <p14:creationId xmlns:p14="http://schemas.microsoft.com/office/powerpoint/2010/main" val="1652532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C1204-2EBE-E6C6-A94F-0ABF69D28241}"/>
              </a:ext>
            </a:extLst>
          </p:cNvPr>
          <p:cNvSpPr>
            <a:spLocks noGrp="1"/>
          </p:cNvSpPr>
          <p:nvPr>
            <p:ph type="title"/>
          </p:nvPr>
        </p:nvSpPr>
        <p:spPr/>
        <p:txBody>
          <a:bodyPr/>
          <a:lstStyle/>
          <a:p>
            <a:r>
              <a:rPr lang="en-GB" dirty="0"/>
              <a:t>Adding Slicers</a:t>
            </a:r>
          </a:p>
        </p:txBody>
      </p:sp>
      <p:sp>
        <p:nvSpPr>
          <p:cNvPr id="3" name="Content Placeholder 2">
            <a:extLst>
              <a:ext uri="{FF2B5EF4-FFF2-40B4-BE49-F238E27FC236}">
                <a16:creationId xmlns:a16="http://schemas.microsoft.com/office/drawing/2014/main" id="{7B597F54-6393-EA2B-5A9A-3E3FA195A951}"/>
              </a:ext>
            </a:extLst>
          </p:cNvPr>
          <p:cNvSpPr>
            <a:spLocks noGrp="1"/>
          </p:cNvSpPr>
          <p:nvPr>
            <p:ph idx="1"/>
          </p:nvPr>
        </p:nvSpPr>
        <p:spPr>
          <a:xfrm>
            <a:off x="838200" y="1825625"/>
            <a:ext cx="7319963" cy="4351338"/>
          </a:xfrm>
        </p:spPr>
        <p:txBody>
          <a:bodyPr>
            <a:normAutofit lnSpcReduction="10000"/>
          </a:bodyPr>
          <a:lstStyle/>
          <a:p>
            <a:r>
              <a:rPr lang="en-GB" dirty="0">
                <a:latin typeface="+mj-lt"/>
              </a:rPr>
              <a:t>A </a:t>
            </a:r>
            <a:r>
              <a:rPr lang="en-GB" b="1" dirty="0">
                <a:latin typeface="+mj-lt"/>
              </a:rPr>
              <a:t>slicer</a:t>
            </a:r>
            <a:r>
              <a:rPr lang="en-GB" dirty="0">
                <a:latin typeface="+mj-lt"/>
              </a:rPr>
              <a:t> is an interactive filter that helps users quickly filter and view specific data in a dashboard.</a:t>
            </a:r>
            <a:r>
              <a:rPr lang="en-US" altLang="en-US" dirty="0">
                <a:latin typeface="+mj-lt"/>
              </a:rPr>
              <a:t> I have added </a:t>
            </a:r>
            <a:r>
              <a:rPr lang="en-US" altLang="en-US" b="1" dirty="0">
                <a:latin typeface="+mj-lt"/>
              </a:rPr>
              <a:t>Genre, Certificate, and Year slicers</a:t>
            </a:r>
            <a:r>
              <a:rPr lang="en-US" altLang="en-US" dirty="0">
                <a:latin typeface="+mj-lt"/>
              </a:rPr>
              <a:t> to the movie dashboard. These slicers help users easily filter and view specific movie data. For example, selecting “Action” in the Genre slicer shows only Action movies. This makes the dashboard interactive and helps in better analysis.</a:t>
            </a:r>
          </a:p>
          <a:p>
            <a:r>
              <a:rPr lang="en-US" altLang="en-US" dirty="0">
                <a:latin typeface="+mj-lt"/>
              </a:rPr>
              <a:t>I added report connection to the all-pivot table I have Created.</a:t>
            </a:r>
            <a:br>
              <a:rPr lang="en-US" altLang="en-US" dirty="0">
                <a:latin typeface="+mj-lt"/>
              </a:rPr>
            </a:br>
            <a:br>
              <a:rPr lang="en-US" altLang="en-US" dirty="0">
                <a:latin typeface="+mj-lt"/>
              </a:rPr>
            </a:br>
            <a:endParaRPr lang="en-US" altLang="en-US" dirty="0">
              <a:latin typeface="+mj-lt"/>
            </a:endParaRPr>
          </a:p>
          <a:p>
            <a:pPr marL="0" indent="0">
              <a:buNone/>
            </a:pPr>
            <a:br>
              <a:rPr lang="en-GB" dirty="0">
                <a:latin typeface="+mj-lt"/>
              </a:rPr>
            </a:br>
            <a:br>
              <a:rPr lang="en-GB" dirty="0">
                <a:latin typeface="+mj-lt"/>
              </a:rPr>
            </a:br>
            <a:endParaRPr lang="en-GB" dirty="0">
              <a:latin typeface="+mj-lt"/>
            </a:endParaRPr>
          </a:p>
          <a:p>
            <a:endParaRPr lang="en-GB" dirty="0">
              <a:latin typeface="+mj-lt"/>
            </a:endParaRPr>
          </a:p>
        </p:txBody>
      </p:sp>
      <p:pic>
        <p:nvPicPr>
          <p:cNvPr id="7" name="Picture 6">
            <a:extLst>
              <a:ext uri="{FF2B5EF4-FFF2-40B4-BE49-F238E27FC236}">
                <a16:creationId xmlns:a16="http://schemas.microsoft.com/office/drawing/2014/main" id="{A8BBE79C-3D75-1A73-EC65-8B21867948B9}"/>
              </a:ext>
            </a:extLst>
          </p:cNvPr>
          <p:cNvPicPr>
            <a:picLocks noChangeAspect="1"/>
          </p:cNvPicPr>
          <p:nvPr/>
        </p:nvPicPr>
        <p:blipFill>
          <a:blip r:embed="rId2"/>
          <a:stretch>
            <a:fillRect/>
          </a:stretch>
        </p:blipFill>
        <p:spPr>
          <a:xfrm>
            <a:off x="8801101" y="1347513"/>
            <a:ext cx="2057400" cy="3934374"/>
          </a:xfrm>
          <a:prstGeom prst="rect">
            <a:avLst/>
          </a:prstGeom>
        </p:spPr>
      </p:pic>
    </p:spTree>
    <p:extLst>
      <p:ext uri="{BB962C8B-B14F-4D97-AF65-F5344CB8AC3E}">
        <p14:creationId xmlns:p14="http://schemas.microsoft.com/office/powerpoint/2010/main" val="1153525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4215-CCDB-C69E-A9BA-77262A11CE4A}"/>
              </a:ext>
            </a:extLst>
          </p:cNvPr>
          <p:cNvSpPr>
            <a:spLocks noGrp="1"/>
          </p:cNvSpPr>
          <p:nvPr>
            <p:ph type="title"/>
          </p:nvPr>
        </p:nvSpPr>
        <p:spPr/>
        <p:txBody>
          <a:bodyPr/>
          <a:lstStyle/>
          <a:p>
            <a:r>
              <a:rPr lang="en-GB" dirty="0"/>
              <a:t>Final Dashboard</a:t>
            </a:r>
          </a:p>
        </p:txBody>
      </p:sp>
      <p:pic>
        <p:nvPicPr>
          <p:cNvPr id="5" name="Content Placeholder 4">
            <a:extLst>
              <a:ext uri="{FF2B5EF4-FFF2-40B4-BE49-F238E27FC236}">
                <a16:creationId xmlns:a16="http://schemas.microsoft.com/office/drawing/2014/main" id="{C83540CF-0394-2B4A-52BC-753AAA8628C3}"/>
              </a:ext>
            </a:extLst>
          </p:cNvPr>
          <p:cNvPicPr>
            <a:picLocks noGrp="1" noChangeAspect="1"/>
          </p:cNvPicPr>
          <p:nvPr>
            <p:ph idx="1"/>
          </p:nvPr>
        </p:nvPicPr>
        <p:blipFill>
          <a:blip r:embed="rId2"/>
          <a:stretch>
            <a:fillRect/>
          </a:stretch>
        </p:blipFill>
        <p:spPr>
          <a:xfrm>
            <a:off x="3104012" y="2057400"/>
            <a:ext cx="5950638" cy="4038600"/>
          </a:xfrm>
          <a:prstGeom prst="rect">
            <a:avLst/>
          </a:prstGeom>
        </p:spPr>
      </p:pic>
    </p:spTree>
    <p:extLst>
      <p:ext uri="{BB962C8B-B14F-4D97-AF65-F5344CB8AC3E}">
        <p14:creationId xmlns:p14="http://schemas.microsoft.com/office/powerpoint/2010/main" val="3861041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B32E6-E4C8-F3EB-C295-40CA9491C11A}"/>
              </a:ext>
            </a:extLst>
          </p:cNvPr>
          <p:cNvSpPr>
            <a:spLocks noGrp="1"/>
          </p:cNvSpPr>
          <p:nvPr>
            <p:ph type="title"/>
          </p:nvPr>
        </p:nvSpPr>
        <p:spPr/>
        <p:txBody>
          <a:bodyPr/>
          <a:lstStyle/>
          <a:p>
            <a:endParaRPr lang="en-GB" dirty="0"/>
          </a:p>
        </p:txBody>
      </p:sp>
      <p:pic>
        <p:nvPicPr>
          <p:cNvPr id="5" name="Content Placeholder 4">
            <a:extLst>
              <a:ext uri="{FF2B5EF4-FFF2-40B4-BE49-F238E27FC236}">
                <a16:creationId xmlns:a16="http://schemas.microsoft.com/office/drawing/2014/main" id="{89160FD9-CAF5-7092-23C1-E5E32F0155E1}"/>
              </a:ext>
            </a:extLst>
          </p:cNvPr>
          <p:cNvPicPr>
            <a:picLocks noGrp="1" noChangeAspect="1"/>
          </p:cNvPicPr>
          <p:nvPr>
            <p:ph idx="1"/>
          </p:nvPr>
        </p:nvPicPr>
        <p:blipFill>
          <a:blip r:embed="rId2"/>
          <a:stretch>
            <a:fillRect/>
          </a:stretch>
        </p:blipFill>
        <p:spPr>
          <a:xfrm>
            <a:off x="3078537" y="2300039"/>
            <a:ext cx="6001588" cy="3553321"/>
          </a:xfrm>
          <a:prstGeom prst="rect">
            <a:avLst/>
          </a:prstGeom>
        </p:spPr>
      </p:pic>
    </p:spTree>
    <p:extLst>
      <p:ext uri="{BB962C8B-B14F-4D97-AF65-F5344CB8AC3E}">
        <p14:creationId xmlns:p14="http://schemas.microsoft.com/office/powerpoint/2010/main" val="3422532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4B36D4-AF6D-F155-C83A-4D660E7A2001}"/>
              </a:ext>
            </a:extLst>
          </p:cNvPr>
          <p:cNvPicPr>
            <a:picLocks noChangeAspect="1"/>
          </p:cNvPicPr>
          <p:nvPr/>
        </p:nvPicPr>
        <p:blipFill>
          <a:blip r:embed="rId2"/>
          <a:stretch>
            <a:fillRect/>
          </a:stretch>
        </p:blipFill>
        <p:spPr>
          <a:xfrm>
            <a:off x="1900238" y="595822"/>
            <a:ext cx="8172450" cy="5518427"/>
          </a:xfrm>
          <a:prstGeom prst="rect">
            <a:avLst/>
          </a:prstGeom>
        </p:spPr>
      </p:pic>
    </p:spTree>
    <p:extLst>
      <p:ext uri="{BB962C8B-B14F-4D97-AF65-F5344CB8AC3E}">
        <p14:creationId xmlns:p14="http://schemas.microsoft.com/office/powerpoint/2010/main" val="520748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C93F0-071C-F04C-B594-E4553DB6A472}"/>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A3AC7105-093E-E419-3CDD-71C7C1A9AA27}"/>
              </a:ext>
            </a:extLst>
          </p:cNvPr>
          <p:cNvSpPr>
            <a:spLocks noGrp="1"/>
          </p:cNvSpPr>
          <p:nvPr>
            <p:ph idx="1"/>
          </p:nvPr>
        </p:nvSpPr>
        <p:spPr/>
        <p:txBody>
          <a:bodyPr/>
          <a:lstStyle/>
          <a:p>
            <a:r>
              <a:rPr lang="en-GB" dirty="0"/>
              <a:t>The movie dataset was </a:t>
            </a:r>
            <a:r>
              <a:rPr lang="en-GB" dirty="0" err="1"/>
              <a:t>analyzed</a:t>
            </a:r>
            <a:r>
              <a:rPr lang="en-GB" dirty="0"/>
              <a:t> using </a:t>
            </a:r>
            <a:r>
              <a:rPr lang="en-GB" b="1" dirty="0"/>
              <a:t>Excel PivotTables, Charts, and Slicers</a:t>
            </a:r>
            <a:r>
              <a:rPr lang="en-GB" dirty="0"/>
              <a:t>. The analysis helped identify </a:t>
            </a:r>
            <a:r>
              <a:rPr lang="en-GB" b="1" dirty="0"/>
              <a:t>top movies, genres, directors, certifications, yearly Gross, IMDb Ratings, Meta Scores, and audience votes</a:t>
            </a:r>
            <a:r>
              <a:rPr lang="en-GB" dirty="0"/>
              <a:t>.</a:t>
            </a:r>
            <a:br>
              <a:rPr lang="en-GB" dirty="0"/>
            </a:br>
            <a:r>
              <a:rPr lang="en-GB" dirty="0"/>
              <a:t>Overall, the dashboard helps users </a:t>
            </a:r>
            <a:r>
              <a:rPr lang="en-GB" b="1" dirty="0"/>
              <a:t>explore movie performance, compare different factors, identify trends, and gain meaningful data-driven insights</a:t>
            </a:r>
            <a:r>
              <a:rPr lang="en-GB" dirty="0"/>
              <a:t>.</a:t>
            </a:r>
          </a:p>
        </p:txBody>
      </p:sp>
    </p:spTree>
    <p:extLst>
      <p:ext uri="{BB962C8B-B14F-4D97-AF65-F5344CB8AC3E}">
        <p14:creationId xmlns:p14="http://schemas.microsoft.com/office/powerpoint/2010/main" val="2508487433"/>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7</TotalTime>
  <Words>1002</Words>
  <Application>Microsoft Office PowerPoint</Application>
  <PresentationFormat>Widescreen</PresentationFormat>
  <Paragraphs>96</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Corbel</vt:lpstr>
      <vt:lpstr>Basis</vt:lpstr>
      <vt:lpstr>Movie Ratings And Box Office Dashboard</vt:lpstr>
      <vt:lpstr>Introduction</vt:lpstr>
      <vt:lpstr>Problem Statement</vt:lpstr>
      <vt:lpstr>Column Description</vt:lpstr>
      <vt:lpstr>Key Performance Indicator</vt:lpstr>
      <vt:lpstr>Data Preprocessing</vt:lpstr>
      <vt:lpstr>1.Which movies have the highest Gross? </vt:lpstr>
      <vt:lpstr>2.Which genres have the highest Gross? </vt:lpstr>
      <vt:lpstr>3.Which movies have the highest IMDb Rating? </vt:lpstr>
      <vt:lpstr>4.Which directors have the highest total Gross?</vt:lpstr>
      <vt:lpstr>5.How does total Gross vary by year? </vt:lpstr>
      <vt:lpstr>6.Does IMDb Rating affect Gross? </vt:lpstr>
      <vt:lpstr>7.Which movies have the highest Meta Score?</vt:lpstr>
      <vt:lpstr>8.How does IMDb Rating compare with Meta Score? </vt:lpstr>
      <vt:lpstr>9.How many movies are there for each certification?</vt:lpstr>
      <vt:lpstr>10.Which movies have the highest number of votes by movie? </vt:lpstr>
      <vt:lpstr>Adding Slicers</vt:lpstr>
      <vt:lpstr>Final Dashboard</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LAPTOP</dc:creator>
  <cp:lastModifiedBy>HP LAPTOP</cp:lastModifiedBy>
  <cp:revision>1</cp:revision>
  <dcterms:created xsi:type="dcterms:W3CDTF">2026-10-05T16:12:54Z</dcterms:created>
  <dcterms:modified xsi:type="dcterms:W3CDTF">2026-10-05T16:20:28Z</dcterms:modified>
</cp:coreProperties>
</file>